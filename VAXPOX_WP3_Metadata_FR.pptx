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VAXPOX Virologie Moléculaire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BDD7EE"/>
                </a:solidFill>
              </a:defRPr>
            </a:pPr>
            <a:r>
              <a:t>Collecte Standardisée des Métadonnées dans les Pays Africains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Métadonnées Actuellement Collectées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DONNÉES DÉMOGRAPHIQUES : Année de naissance, Sexe, Lieu de résidence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DONNÉES CLINIQUES : Début des symptômes, Nombre de lésions, Antécédents de vaccination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ANTÉCÉDENTS MÉDICAUX : Infection mpox antérieure, Antécédents d'éruption fébrile, Conditions sous-jacentes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DONNÉES ÉPIDÉMIOLOGIQUES : Profession, Antécédents de contact (patients et animaux)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DONNÉES BIOLOGIQUES : Date du prélèvement, Type d'échantillon, Résultat PCR et valeur Ct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✓ DONNÉES DE SÉQUENÇAGE : Génomes complets MPXV, Scores de qualité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Collecte cohérente dans tous les sites : CAM • CI • MADA • RCA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Observations Clés et Prochaines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OBSERVATIONS CLÉS 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Les 4 sites collectent des ensembles de métadonnées identiques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Critère de sélection cohérent : PCR Ct ≤ 30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Données issues de la surveillance nationale du mpox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PROCHAINES ÉTAPES 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Standardiser le format et les définitions des champs de métadonnées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Harmoniser les protocoles de soumission de données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Établir un référentiel partagé pour les séquences et métadonnées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• Coordonner les approches technologiques de séquençage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 Partage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Recommandations Clés:</a:t>
            </a:r>
          </a:p>
          <a:p>
            <a:pPr lvl="1">
              <a:defRPr sz="1200"/>
            </a:pPr>
            <a:r>
              <a:t>Phase 1 (Simple): Base de données PostgreSQL à Paris + API Python + Application Shiny avec authentification</a:t>
            </a:r>
          </a:p>
          <a:p>
            <a:pPr lvl="1">
              <a:defRPr sz="1200"/>
            </a:pPr>
            <a:r>
              <a:t>Phase 2 (Améliorée): Tableau de bord web, demandes de partage, journaux d'audit</a:t>
            </a:r>
          </a:p>
          <a:p>
            <a:pPr lvl="1">
              <a:defRPr sz="1200"/>
            </a:pPr>
            <a:r>
              <a:t>Phase 3 (Complète): Analyses avancées, contrôle qualité, intégration GISAID</a:t>
            </a:r>
          </a:p>
          <a:p/>
          <a:p>
            <a:pPr>
              <a:defRPr b="1" sz="1800">
                <a:solidFill>
                  <a:srgbClr val="1F4E79"/>
                </a:solidFill>
              </a:defRPr>
            </a:pPr>
            <a:r>
              <a:t>Architecture Principale:</a:t>
            </a:r>
          </a:p>
          <a:p>
            <a:pPr lvl="1">
              <a:defRPr sz="1200"/>
            </a:pPr>
            <a:r>
              <a:t>Données stockées: PostgreSQL à Paris (chiffré)</a:t>
            </a:r>
          </a:p>
          <a:p>
            <a:pPr lvl="1">
              <a:defRPr sz="1200"/>
            </a:pPr>
            <a:r>
              <a:t>Accès: Contrôle d'accès basé sur les rôles - Les pays voient d'abord leurs propres données</a:t>
            </a:r>
          </a:p>
          <a:p>
            <a:pPr lvl="1">
              <a:defRPr sz="1200"/>
            </a:pPr>
            <a:r>
              <a:t>Partage: Demandes de pays pour accès aux données d'autres pays → Approbation → Accès autorisé</a:t>
            </a:r>
          </a:p>
          <a:p>
            <a:pPr lvl="1">
              <a:defRPr sz="1200"/>
            </a:pPr>
            <a:r>
              <a:t>Audit: Journaux complets de tous les accès (qui, quoi, quand, pourquoi)</a:t>
            </a:r>
          </a:p>
          <a:p>
            <a:pPr lvl="1">
              <a:defRPr sz="1200"/>
            </a:pPr>
            <a:r>
              <a:t>Sécurité: Chiffrement TLS, authentification multi-facteur, Accord de traitement des données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