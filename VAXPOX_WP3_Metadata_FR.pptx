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98C8813-7131-49B2-8645-0746AB8761F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A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AU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A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FB2421A-7E38-41D4-AEA2-55D73E936A0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A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AU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3BFDD0A-C0F9-4B76-93A1-5D54EB3CFE2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A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AU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5F180EC-B270-48EF-A2FA-83A985DD65D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A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AU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E75A5D4-F02E-4EAB-B20F-ED25AD1022E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A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AU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D10A8EB-B05B-4A2B-9203-A844494B60F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A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AU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E1A1F3B-6373-49AE-89EB-424E81F6E14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A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AU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2353EEA-AC1D-47E7-B0F4-9031BE7BCAC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A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AU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12AD16F-0112-4DEC-959B-45C49C7E274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A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AU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3BC6066-78E8-4327-91BA-6286F04EB89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A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AU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D102671-6E42-4167-8690-D11B983214C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A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AU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5498C95-23AD-45E2-BF90-DDE91522C29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AU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1D7C0D5-C702-45ED-B779-AFB3928FD14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AU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AU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A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7CB9662-45B6-4398-AFE0-653C5CD85E8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AU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AU" sz="4400" spc="-1" strike="noStrike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B7B40DD-55CD-43AC-97EF-BAF5C56328D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AU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AU" sz="4400" spc="-1" strike="noStrike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8151A3E-78A6-49BF-B810-DC70CA21F28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AU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AU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909393A-1750-4E0E-BB45-C6A4BEA2CD6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AU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AU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41F9FA3-1B5C-41BE-ABA4-32154965F2C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AU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AU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8B699CB-E6A1-42EE-B0AB-9442B5794A3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AU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AU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55AFCDF-1670-4E98-B289-C04C194B570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AU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AU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BD7CCF3-FC99-4EBD-969C-40DB87B49C2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AU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AU" sz="4400" spc="-1" strike="noStrike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112412F-38FE-46BE-B26C-99A002CBF73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AU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AU" sz="4400" spc="-1" strike="noStrike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28BD69B-C72C-4E96-B741-E22D548DC84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AU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AU" sz="4400" spc="-1" strike="noStrike"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AU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A67EEB9-F728-4985-975B-3B291EE0560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A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AU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AU" sz="1400" spc="-1" strike="noStrike">
                <a:latin typeface="Times New Roman"/>
              </a:rPr>
              <a:t>&lt;footer&gt;</a:t>
            </a:r>
            <a:endParaRPr b="0" lang="en-AU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A8A10D7-315E-4582-BFAB-F407B753DE9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AU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AU" sz="1400" spc="-1" strike="noStrike">
                <a:latin typeface="Times New Roman"/>
              </a:defRPr>
            </a:lvl1pPr>
          </a:lstStyle>
          <a:p>
            <a:r>
              <a:rPr b="0" lang="en-AU" sz="1400" spc="-1" strike="noStrike">
                <a:latin typeface="Times New Roman"/>
              </a:rPr>
              <a:t>&lt;date/time&gt;</a:t>
            </a:r>
            <a:endParaRPr b="0" lang="en-AU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AU" sz="4400" spc="-1" strike="noStrike">
                <a:latin typeface="Arial"/>
              </a:rPr>
              <a:t>Click to edit the title text format</a:t>
            </a:r>
            <a:endParaRPr b="0" lang="en-AU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3200" spc="-1" strike="noStrike">
                <a:latin typeface="Arial"/>
              </a:rPr>
              <a:t>Click to edit the outline text format</a:t>
            </a:r>
            <a:endParaRPr b="0" lang="en-AU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pc="-1" strike="noStrike">
                <a:latin typeface="Arial"/>
              </a:rPr>
              <a:t>Second Outline Level</a:t>
            </a:r>
            <a:endParaRPr b="0" lang="en-AU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400" spc="-1" strike="noStrike">
                <a:latin typeface="Arial"/>
              </a:rPr>
              <a:t>Third Outline Level</a:t>
            </a:r>
            <a:endParaRPr b="0" lang="en-AU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000" spc="-1" strike="noStrike">
                <a:latin typeface="Arial"/>
              </a:rPr>
              <a:t>Fourth Outline Level</a:t>
            </a:r>
            <a:endParaRPr b="0" lang="en-AU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latin typeface="Arial"/>
              </a:rPr>
              <a:t>Fifth Outline Level</a:t>
            </a:r>
            <a:endParaRPr b="0" lang="en-AU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latin typeface="Arial"/>
              </a:rPr>
              <a:t>Sixth Outline Level</a:t>
            </a:r>
            <a:endParaRPr b="0" lang="en-AU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latin typeface="Arial"/>
              </a:rPr>
              <a:t>Seventh Outline Level</a:t>
            </a:r>
            <a:endParaRPr b="0" lang="en-AU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AU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AU" sz="1400" spc="-1" strike="noStrike">
                <a:latin typeface="Times New Roman"/>
              </a:rPr>
              <a:t>&lt;footer&gt;</a:t>
            </a:r>
            <a:endParaRPr b="0" lang="en-AU" sz="1400" spc="-1" strike="noStrike"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60BE7A6-2894-4ADE-B37E-314E2F81E56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AU" sz="1200" spc="-1" strike="noStrike"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AU" sz="1400" spc="-1" strike="noStrike">
                <a:latin typeface="Times New Roman"/>
              </a:defRPr>
            </a:lvl1pPr>
          </a:lstStyle>
          <a:p>
            <a:r>
              <a:rPr b="0" lang="en-AU" sz="1400" spc="-1" strike="noStrike">
                <a:latin typeface="Times New Roman"/>
              </a:rPr>
              <a:t>&lt;date/time&gt;</a:t>
            </a:r>
            <a:endParaRPr b="0" lang="en-AU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AU" sz="4400" spc="-1" strike="noStrike">
                <a:latin typeface="Arial"/>
              </a:rPr>
              <a:t>Click to edit the title text format</a:t>
            </a:r>
            <a:endParaRPr b="0" lang="en-AU" sz="4400" spc="-1" strike="noStrike"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3200" spc="-1" strike="noStrike">
                <a:latin typeface="Arial"/>
              </a:rPr>
              <a:t>Click to edit the outline text format</a:t>
            </a:r>
            <a:endParaRPr b="0" lang="en-AU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pc="-1" strike="noStrike">
                <a:latin typeface="Arial"/>
              </a:rPr>
              <a:t>Second Outline Level</a:t>
            </a:r>
            <a:endParaRPr b="0" lang="en-AU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400" spc="-1" strike="noStrike">
                <a:latin typeface="Arial"/>
              </a:rPr>
              <a:t>Third Outline Level</a:t>
            </a:r>
            <a:endParaRPr b="0" lang="en-AU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000" spc="-1" strike="noStrike">
                <a:latin typeface="Arial"/>
              </a:rPr>
              <a:t>Fourth Outline Level</a:t>
            </a:r>
            <a:endParaRPr b="0" lang="en-AU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latin typeface="Arial"/>
              </a:rPr>
              <a:t>Fifth Outline Level</a:t>
            </a:r>
            <a:endParaRPr b="0" lang="en-AU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latin typeface="Arial"/>
              </a:rPr>
              <a:t>Sixth Outline Level</a:t>
            </a:r>
            <a:endParaRPr b="0" lang="en-AU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latin typeface="Arial"/>
              </a:rPr>
              <a:t>Seventh Outline Level</a:t>
            </a:r>
            <a:endParaRPr b="0" lang="en-AU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1"/>
          <p:cNvSpPr/>
          <p:nvPr/>
        </p:nvSpPr>
        <p:spPr>
          <a:xfrm>
            <a:off x="0" y="0"/>
            <a:ext cx="9143280" cy="7308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799"/>
              </a:spcBef>
              <a:buNone/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  <a:ea typeface="DejaVu Sans"/>
              </a:rPr>
              <a:t>Métadonnées Actuellement Collectées</a:t>
            </a:r>
            <a:endParaRPr b="0" lang="en-AU" sz="4000" spc="-1" strike="noStrike">
              <a:latin typeface="Arial"/>
            </a:endParaRPr>
          </a:p>
        </p:txBody>
      </p:sp>
      <p:sp>
        <p:nvSpPr>
          <p:cNvPr id="83" name="TextBox 2"/>
          <p:cNvSpPr/>
          <p:nvPr/>
        </p:nvSpPr>
        <p:spPr>
          <a:xfrm>
            <a:off x="457200" y="1097280"/>
            <a:ext cx="8228880" cy="444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1199"/>
              </a:spcAft>
              <a:buNone/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  <a:ea typeface="DejaVu Sans"/>
              </a:rPr>
              <a:t>✓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  <a:ea typeface="DejaVu Sans"/>
              </a:rPr>
              <a:t>DONNÉES DÉMOGRAPHIQUES : Année de naissance, Sexe, Lieu de résidence</a:t>
            </a:r>
            <a:endParaRPr b="0" lang="en-AU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199"/>
              </a:spcAft>
              <a:buNone/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  <a:ea typeface="DejaVu Sans"/>
              </a:rPr>
              <a:t>✓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  <a:ea typeface="DejaVu Sans"/>
              </a:rPr>
              <a:t>DONNÉES CLINIQUES : Début des symptômes, Nombre de lésions, Antécédents de vaccination</a:t>
            </a:r>
            <a:endParaRPr b="0" lang="en-AU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199"/>
              </a:spcAft>
              <a:buNone/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  <a:ea typeface="DejaVu Sans"/>
              </a:rPr>
              <a:t>✓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  <a:ea typeface="DejaVu Sans"/>
              </a:rPr>
              <a:t>ANTÉCÉDENTS MÉDICAUX : Infection mpox antérieure, Antécédents d'éruption fébrile, Conditions sous-jacentes</a:t>
            </a:r>
            <a:endParaRPr b="0" lang="en-AU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199"/>
              </a:spcAft>
              <a:buNone/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  <a:ea typeface="DejaVu Sans"/>
              </a:rPr>
              <a:t>✓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  <a:ea typeface="DejaVu Sans"/>
              </a:rPr>
              <a:t>DONNÉES ÉPIDÉMIOLOGIQUES : Profession, Antécédents de contact (patients et animaux)</a:t>
            </a:r>
            <a:endParaRPr b="0" lang="en-AU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199"/>
              </a:spcAft>
              <a:buNone/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  <a:ea typeface="DejaVu Sans"/>
              </a:rPr>
              <a:t>✓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  <a:ea typeface="DejaVu Sans"/>
              </a:rPr>
              <a:t>DONNÉES BIOLOGIQUES : Date du prélèvement, Type d'échantillon, Résultat PCR et valeur Ct</a:t>
            </a:r>
            <a:endParaRPr b="0" lang="en-AU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199"/>
              </a:spcAft>
              <a:buNone/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  <a:ea typeface="DejaVu Sans"/>
              </a:rPr>
              <a:t>✓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  <a:ea typeface="DejaVu Sans"/>
              </a:rPr>
              <a:t>DONNÉES DE SÉQUENÇAGE : Génomes complets MPXV, Scores de qualité</a:t>
            </a:r>
            <a:endParaRPr b="0" lang="en-AU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199"/>
              </a:spcAft>
              <a:buNone/>
            </a:pPr>
            <a:endParaRPr b="0" lang="en-AU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199"/>
              </a:spcAft>
              <a:buNone/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  <a:ea typeface="DejaVu Sans"/>
              </a:rPr>
              <a:t>Collecte cohérente dans tous les sites : CAM • CI • MADA • RCA</a:t>
            </a:r>
            <a:endParaRPr b="0" lang="en-AU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Rectangle 1"/>
          <p:cNvSpPr/>
          <p:nvPr/>
        </p:nvSpPr>
        <p:spPr>
          <a:xfrm>
            <a:off x="0" y="0"/>
            <a:ext cx="9143280" cy="7308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799"/>
              </a:spcBef>
              <a:buNone/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  <a:ea typeface="DejaVu Sans"/>
              </a:rPr>
              <a:t>Observations Clés et Prochaines Étapes</a:t>
            </a:r>
            <a:endParaRPr b="0" lang="en-AU" sz="4000" spc="-1" strike="noStrike">
              <a:latin typeface="Arial"/>
            </a:endParaRPr>
          </a:p>
        </p:txBody>
      </p:sp>
      <p:sp>
        <p:nvSpPr>
          <p:cNvPr id="85" name="TextBox 2"/>
          <p:cNvSpPr/>
          <p:nvPr/>
        </p:nvSpPr>
        <p:spPr>
          <a:xfrm>
            <a:off x="457200" y="1097280"/>
            <a:ext cx="8228880" cy="37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1199"/>
              </a:spcAft>
              <a:buNone/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  <a:ea typeface="DejaVu Sans"/>
              </a:rPr>
              <a:t>OBSERVATIONS CLÉS :</a:t>
            </a:r>
            <a:endParaRPr b="0" lang="en-AU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199"/>
              </a:spcAft>
              <a:buNone/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  <a:ea typeface="DejaVu Sans"/>
              </a:rPr>
              <a:t>   •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  <a:ea typeface="DejaVu Sans"/>
              </a:rPr>
              <a:t>Les 4 sites collectent des ensembles de métadonnées identiques</a:t>
            </a:r>
            <a:endParaRPr b="0" lang="en-AU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199"/>
              </a:spcAft>
              <a:buNone/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  <a:ea typeface="DejaVu Sans"/>
              </a:rPr>
              <a:t>   •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  <a:ea typeface="DejaVu Sans"/>
              </a:rPr>
              <a:t>Critère de sélection cohérent : PCR Ct ≤ 30 (à discuter)</a:t>
            </a:r>
            <a:endParaRPr b="0" lang="en-AU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199"/>
              </a:spcAft>
              <a:buNone/>
            </a:pPr>
            <a:endParaRPr b="0" lang="en-AU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199"/>
              </a:spcAft>
              <a:buNone/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  <a:ea typeface="DejaVu Sans"/>
              </a:rPr>
              <a:t>PROCHAINES ÉTAPES :</a:t>
            </a:r>
            <a:endParaRPr b="0" lang="en-AU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199"/>
              </a:spcAft>
              <a:buNone/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  <a:ea typeface="DejaVu Sans"/>
              </a:rPr>
              <a:t>   •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  <a:ea typeface="DejaVu Sans"/>
              </a:rPr>
              <a:t>Standardiser le format et les définitions des champs de métadonnées</a:t>
            </a:r>
            <a:endParaRPr b="0" lang="en-AU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199"/>
              </a:spcAft>
              <a:buNone/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  <a:ea typeface="DejaVu Sans"/>
              </a:rPr>
              <a:t>   •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  <a:ea typeface="DejaVu Sans"/>
              </a:rPr>
              <a:t>Harmoniser les protocoles de soumission de données</a:t>
            </a:r>
            <a:endParaRPr b="0" lang="en-AU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199"/>
              </a:spcAft>
              <a:buNone/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  <a:ea typeface="DejaVu Sans"/>
              </a:rPr>
              <a:t>   •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  <a:ea typeface="DejaVu Sans"/>
              </a:rPr>
              <a:t>Établir un référentiel partagé pour les séquences et métadonnées</a:t>
            </a:r>
            <a:endParaRPr b="0" lang="en-AU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199"/>
              </a:spcAft>
              <a:buNone/>
            </a:pPr>
            <a:r>
              <a:rPr b="0" lang="en-US" sz="1800" spc="-1" strike="noStrike">
                <a:solidFill>
                  <a:srgbClr val="333333"/>
                </a:solidFill>
                <a:latin typeface="Calibri"/>
                <a:ea typeface="DejaVu Sans"/>
              </a:rPr>
              <a:t>   • </a:t>
            </a:r>
            <a:r>
              <a:rPr b="0" lang="en-US" sz="1800" spc="-1" strike="noStrike">
                <a:solidFill>
                  <a:srgbClr val="333333"/>
                </a:solidFill>
                <a:latin typeface="Calibri"/>
                <a:ea typeface="DejaVu Sans"/>
              </a:rPr>
              <a:t>Coordonner les approches technologiques de séquençage</a:t>
            </a:r>
            <a:endParaRPr b="0" lang="en-AU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Architecture de Partage de Données</a:t>
            </a:r>
            <a:endParaRPr b="0" lang="en-AU" sz="4400" spc="-1" strike="noStrike"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e79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1f4e79"/>
                </a:solidFill>
                <a:latin typeface="Calibri"/>
              </a:rPr>
              <a:t>Recommandations Clés:</a:t>
            </a:r>
            <a:endParaRPr b="0" lang="en-AU" sz="1800" spc="-1" strike="noStrike"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</a:rPr>
              <a:t>Phase 1 (Simple): Base de données PostgreSQL à Paris + API Python + Application Shiny avec authentification</a:t>
            </a:r>
            <a:endParaRPr b="0" lang="en-AU" sz="1200" spc="-1" strike="noStrike"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</a:rPr>
              <a:t>Phase 2 (Améliorée): Tableau de bord web, demandes de partage, journaux d'audit</a:t>
            </a:r>
            <a:endParaRPr b="0" lang="en-AU" sz="1200" spc="-1" strike="noStrike"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</a:rPr>
              <a:t>Phase 3 (Complète): Analyses avancées, contrôle qualité, intégration GISAID</a:t>
            </a:r>
            <a:endParaRPr b="0" lang="en-AU" sz="12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641"/>
              </a:spcBef>
              <a:buNone/>
            </a:pPr>
            <a:endParaRPr b="0" lang="en-AU" sz="32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e79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1f4e79"/>
                </a:solidFill>
                <a:latin typeface="Calibri"/>
              </a:rPr>
              <a:t>Architecture Principale:</a:t>
            </a:r>
            <a:endParaRPr b="0" lang="en-AU" sz="1800" spc="-1" strike="noStrike"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</a:rPr>
              <a:t>Données stockées: PostgreSQL à Paris (chiffré)</a:t>
            </a:r>
            <a:endParaRPr b="0" lang="en-AU" sz="1200" spc="-1" strike="noStrike"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</a:rPr>
              <a:t>Accès: Contrôle d'accès basé sur les rôles - Les pays voient d'abord leurs propres données</a:t>
            </a:r>
            <a:endParaRPr b="0" lang="en-AU" sz="1200" spc="-1" strike="noStrike"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</a:rPr>
              <a:t>Partage: Demandes de pays pour accès aux données d'autres pays → Approbation → Accès autorisé</a:t>
            </a:r>
            <a:endParaRPr b="0" lang="en-AU" sz="1200" spc="-1" strike="noStrike"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</a:rPr>
              <a:t>Audit: Journaux complets de tous les accès (qui, quoi, quand, pourquoi)</a:t>
            </a:r>
            <a:endParaRPr b="0" lang="en-AU" sz="1200" spc="-1" strike="noStrike"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</a:rPr>
              <a:t>Sécurité: Chiffrement TLS, authentification multi-facteur, Accord de traitement des données</a:t>
            </a:r>
            <a:endParaRPr b="0" lang="en-AU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"/>
          <p:cNvSpPr/>
          <p:nvPr/>
        </p:nvSpPr>
        <p:spPr>
          <a:xfrm>
            <a:off x="239760" y="3044160"/>
            <a:ext cx="849528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AU" sz="1800" spc="-1" strike="noStrike">
                <a:latin typeface="Arial"/>
              </a:rPr>
              <a:t>https://sebastianduchene.github.io/vaxpox-wp3/phase1_architecture_diagram.html</a:t>
            </a:r>
            <a:endParaRPr b="0" lang="en-AU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en-AU</dc:language>
  <cp:lastModifiedBy>Sebastian Duchene</cp:lastModifiedBy>
  <dcterms:modified xsi:type="dcterms:W3CDTF">2026-04-27T21:45:48Z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